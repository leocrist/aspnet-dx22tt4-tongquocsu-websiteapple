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3"/>
  </p:sldMasterIdLst>
  <p:notesMasterIdLst>
    <p:notesMasterId r:id="rId4"/>
  </p:notesMasterIdLst>
  <p:sldIdLst>
    <p:sldId id="256" r:id="rId5"/>
    <p:sldId id="257" r:id="rId6"/>
    <p:sldId id="258" r:id="rId7"/>
    <p:sldId id="259" r:id="rId8"/>
    <p:sldId id="260" r:id="rId9"/>
    <p:sldId id="261" r:id="rId10"/>
  </p:sldIdLst>
  <p:sldSz cy="8229600" cx="14630400"/>
  <p:notesSz cx="8229600" cy="14630400"/>
  <p:embeddedFontLst>
    <p:embeddedFont>
      <p:font typeface="Crimson Pro"/>
      <p:regular r:id="rId11"/>
      <p:bold r:id="rId12"/>
      <p:italic r:id="rId13"/>
      <p:boldItalic r:id="rId14"/>
    </p:embeddedFont>
    <p:embeddedFont>
      <p:font typeface="Open Sans"/>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CrimsonPro-regular.fntdata"/><Relationship Id="rId10" Type="http://schemas.openxmlformats.org/officeDocument/2006/relationships/slide" Target="slides/slide6.xml"/><Relationship Id="rId13" Type="http://schemas.openxmlformats.org/officeDocument/2006/relationships/font" Target="fonts/CrimsonPro-italic.fntdata"/><Relationship Id="rId12" Type="http://schemas.openxmlformats.org/officeDocument/2006/relationships/font" Target="fonts/CrimsonPr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OpenSans-regular.fntdata"/><Relationship Id="rId14" Type="http://schemas.openxmlformats.org/officeDocument/2006/relationships/font" Target="fonts/CrimsonPro-boldItalic.fntdata"/><Relationship Id="rId17" Type="http://schemas.openxmlformats.org/officeDocument/2006/relationships/font" Target="fonts/OpenSans-italic.fntdata"/><Relationship Id="rId16" Type="http://schemas.openxmlformats.org/officeDocument/2006/relationships/font" Target="fonts/OpenSans-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OpenSans-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 name="Google Shape;5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 name="Google Shape;6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 name="Google Shape;8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sp>
        <p:nvSpPr>
          <p:cNvPr id="15" name="Google Shape;15;p3"/>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sp>
        <p:nvSpPr>
          <p:cNvPr id="19" name="Google Shape;19;p4"/>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sp>
        <p:nvSpPr>
          <p:cNvPr id="23" name="Google Shape;23;p5"/>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5"/>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sp>
        <p:nvSpPr>
          <p:cNvPr id="27" name="Google Shape;27;p6"/>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6"/>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sp>
        <p:nvSpPr>
          <p:cNvPr id="31" name="Google Shape;31;p7"/>
          <p:cNvSpPr/>
          <p:nvPr/>
        </p:nvSpPr>
        <p:spPr>
          <a:xfrm>
            <a:off x="0" y="0"/>
            <a:ext cx="14630400" cy="8229600"/>
          </a:xfrm>
          <a:prstGeom prst="rect">
            <a:avLst/>
          </a:prstGeom>
          <a:solidFill>
            <a:srgbClr val="F7ED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7"/>
          <p:cNvSpPr/>
          <p:nvPr/>
        </p:nvSpPr>
        <p:spPr>
          <a:xfrm>
            <a:off x="0" y="0"/>
            <a:ext cx="14630400" cy="8229600"/>
          </a:xfrm>
          <a:prstGeom prst="rect">
            <a:avLst/>
          </a:prstGeom>
          <a:solidFill>
            <a:srgbClr val="FFFC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2"/>
          </p:cNvPr>
          <p:cNvPicPr preferRelativeResize="0"/>
          <p:nvPr/>
        </p:nvPicPr>
        <p:blipFill rotWithShape="1">
          <a:blip r:embed="rId3">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4" name="Shape 3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5.png"/><Relationship Id="rId7"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 name="Shape 39"/>
        <p:cNvGrpSpPr/>
        <p:nvPr/>
      </p:nvGrpSpPr>
      <p:grpSpPr>
        <a:xfrm>
          <a:off x="0" y="0"/>
          <a:ext cx="0" cy="0"/>
          <a:chOff x="0" y="0"/>
          <a:chExt cx="0" cy="0"/>
        </a:xfrm>
      </p:grpSpPr>
      <p:sp>
        <p:nvSpPr>
          <p:cNvPr id="40" name="Google Shape;40;p9"/>
          <p:cNvSpPr/>
          <p:nvPr/>
        </p:nvSpPr>
        <p:spPr>
          <a:xfrm>
            <a:off x="724733" y="755690"/>
            <a:ext cx="13180933" cy="264914"/>
          </a:xfrm>
          <a:prstGeom prst="rect">
            <a:avLst/>
          </a:prstGeom>
          <a:noFill/>
          <a:ln>
            <a:noFill/>
          </a:ln>
        </p:spPr>
        <p:txBody>
          <a:bodyPr anchorCtr="0" anchor="t" bIns="0" lIns="0" spcFirstLastPara="1" rIns="0" wrap="square" tIns="0">
            <a:noAutofit/>
          </a:bodyPr>
          <a:lstStyle/>
          <a:p>
            <a:pPr indent="0" lvl="0" marL="0" marR="0" rtl="0" algn="ctr">
              <a:lnSpc>
                <a:spcPct val="157692"/>
              </a:lnSpc>
              <a:spcBef>
                <a:spcPts val="0"/>
              </a:spcBef>
              <a:spcAft>
                <a:spcPts val="0"/>
              </a:spcAft>
              <a:buClr>
                <a:srgbClr val="443728"/>
              </a:buClr>
              <a:buSzPts val="1300"/>
              <a:buFont typeface="Open Sans"/>
              <a:buNone/>
            </a:pPr>
            <a:r>
              <a:rPr b="1" i="0" lang="en-US" sz="1300" u="none" cap="none" strike="noStrike">
                <a:solidFill>
                  <a:srgbClr val="443728"/>
                </a:solidFill>
                <a:latin typeface="Open Sans"/>
                <a:ea typeface="Open Sans"/>
                <a:cs typeface="Open Sans"/>
                <a:sym typeface="Open Sans"/>
              </a:rPr>
              <a:t>TRƯỜNG ĐẠI HỌC TRÀ VINH</a:t>
            </a:r>
            <a:endParaRPr b="0" i="0" sz="1300" u="none" cap="none" strike="noStrike"/>
          </a:p>
        </p:txBody>
      </p:sp>
      <p:sp>
        <p:nvSpPr>
          <p:cNvPr id="41" name="Google Shape;41;p9"/>
          <p:cNvSpPr/>
          <p:nvPr/>
        </p:nvSpPr>
        <p:spPr>
          <a:xfrm>
            <a:off x="724733" y="1253490"/>
            <a:ext cx="13180933" cy="264914"/>
          </a:xfrm>
          <a:prstGeom prst="rect">
            <a:avLst/>
          </a:prstGeom>
          <a:noFill/>
          <a:ln>
            <a:noFill/>
          </a:ln>
        </p:spPr>
        <p:txBody>
          <a:bodyPr anchorCtr="0" anchor="t" bIns="0" lIns="0" spcFirstLastPara="1" rIns="0" wrap="square" tIns="0">
            <a:noAutofit/>
          </a:bodyPr>
          <a:lstStyle/>
          <a:p>
            <a:pPr indent="0" lvl="0" marL="0" marR="0" rtl="0" algn="ctr">
              <a:lnSpc>
                <a:spcPct val="157692"/>
              </a:lnSpc>
              <a:spcBef>
                <a:spcPts val="0"/>
              </a:spcBef>
              <a:spcAft>
                <a:spcPts val="0"/>
              </a:spcAft>
              <a:buClr>
                <a:srgbClr val="443728"/>
              </a:buClr>
              <a:buSzPts val="1300"/>
              <a:buFont typeface="Open Sans"/>
              <a:buNone/>
            </a:pPr>
            <a:r>
              <a:rPr b="1" i="0" lang="en-US" sz="1300" u="none" cap="none" strike="noStrike">
                <a:solidFill>
                  <a:srgbClr val="443728"/>
                </a:solidFill>
                <a:latin typeface="Open Sans"/>
                <a:ea typeface="Open Sans"/>
                <a:cs typeface="Open Sans"/>
                <a:sym typeface="Open Sans"/>
              </a:rPr>
              <a:t>KHOA KỸ THUẬT VÀ CÔNG NGHỆ</a:t>
            </a:r>
            <a:endParaRPr b="0" i="0" sz="1300" u="none" cap="none" strike="noStrike"/>
          </a:p>
        </p:txBody>
      </p:sp>
      <p:sp>
        <p:nvSpPr>
          <p:cNvPr id="42" name="Google Shape;42;p9"/>
          <p:cNvSpPr/>
          <p:nvPr/>
        </p:nvSpPr>
        <p:spPr>
          <a:xfrm>
            <a:off x="724733" y="1937623"/>
            <a:ext cx="5243036" cy="331232"/>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SzPts val="1600"/>
              <a:buFont typeface="Arial"/>
              <a:buNone/>
            </a:pPr>
            <a:r>
              <a:t/>
            </a:r>
            <a:endParaRPr b="0" i="0" sz="1600" u="none" cap="none" strike="noStrike"/>
          </a:p>
        </p:txBody>
      </p:sp>
      <p:pic>
        <p:nvPicPr>
          <p:cNvPr descr="preencoded.png" id="43" name="Google Shape;43;p9"/>
          <p:cNvPicPr preferRelativeResize="0"/>
          <p:nvPr/>
        </p:nvPicPr>
        <p:blipFill rotWithShape="1">
          <a:blip r:embed="rId3">
            <a:alphaModFix/>
          </a:blip>
          <a:srcRect b="0" l="0" r="0" t="0"/>
          <a:stretch/>
        </p:blipFill>
        <p:spPr>
          <a:xfrm>
            <a:off x="6553795" y="1984177"/>
            <a:ext cx="1537930" cy="1537930"/>
          </a:xfrm>
          <a:prstGeom prst="rect">
            <a:avLst/>
          </a:prstGeom>
          <a:noFill/>
          <a:ln>
            <a:noFill/>
          </a:ln>
        </p:spPr>
      </p:pic>
      <p:sp>
        <p:nvSpPr>
          <p:cNvPr id="44" name="Google Shape;44;p9"/>
          <p:cNvSpPr/>
          <p:nvPr/>
        </p:nvSpPr>
        <p:spPr>
          <a:xfrm>
            <a:off x="8677751" y="1937623"/>
            <a:ext cx="5243036" cy="331232"/>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SzPts val="1600"/>
              <a:buFont typeface="Arial"/>
              <a:buNone/>
            </a:pPr>
            <a:r>
              <a:t/>
            </a:r>
            <a:endParaRPr b="0" i="0" sz="1600" u="none" cap="none" strike="noStrike"/>
          </a:p>
        </p:txBody>
      </p:sp>
      <p:sp>
        <p:nvSpPr>
          <p:cNvPr id="45" name="Google Shape;45;p9"/>
          <p:cNvSpPr/>
          <p:nvPr/>
        </p:nvSpPr>
        <p:spPr>
          <a:xfrm>
            <a:off x="724733" y="3987879"/>
            <a:ext cx="13180933" cy="264914"/>
          </a:xfrm>
          <a:prstGeom prst="rect">
            <a:avLst/>
          </a:prstGeom>
          <a:noFill/>
          <a:ln>
            <a:noFill/>
          </a:ln>
        </p:spPr>
        <p:txBody>
          <a:bodyPr anchorCtr="0" anchor="t" bIns="0" lIns="0" spcFirstLastPara="1" rIns="0" wrap="square" tIns="0">
            <a:noAutofit/>
          </a:bodyPr>
          <a:lstStyle/>
          <a:p>
            <a:pPr indent="0" lvl="0" marL="0" marR="0" rtl="0" algn="ctr">
              <a:lnSpc>
                <a:spcPct val="157692"/>
              </a:lnSpc>
              <a:spcBef>
                <a:spcPts val="0"/>
              </a:spcBef>
              <a:spcAft>
                <a:spcPts val="0"/>
              </a:spcAft>
              <a:buSzPts val="1300"/>
              <a:buFont typeface="Arial"/>
              <a:buNone/>
            </a:pPr>
            <a:r>
              <a:t/>
            </a:r>
            <a:endParaRPr b="0" i="0" sz="1300" u="none" cap="none" strike="noStrike"/>
          </a:p>
        </p:txBody>
      </p:sp>
      <p:sp>
        <p:nvSpPr>
          <p:cNvPr id="46" name="Google Shape;46;p9"/>
          <p:cNvSpPr/>
          <p:nvPr/>
        </p:nvSpPr>
        <p:spPr>
          <a:xfrm>
            <a:off x="724733" y="4485680"/>
            <a:ext cx="13180933" cy="331232"/>
          </a:xfrm>
          <a:prstGeom prst="rect">
            <a:avLst/>
          </a:prstGeom>
          <a:noFill/>
          <a:ln>
            <a:noFill/>
          </a:ln>
        </p:spPr>
        <p:txBody>
          <a:bodyPr anchorCtr="0" anchor="t" bIns="0" lIns="0" spcFirstLastPara="1" rIns="0" wrap="square" tIns="0">
            <a:noAutofit/>
          </a:bodyPr>
          <a:lstStyle/>
          <a:p>
            <a:pPr indent="0" lvl="0" marL="0" marR="0" rtl="0" algn="ctr">
              <a:lnSpc>
                <a:spcPct val="162500"/>
              </a:lnSpc>
              <a:spcBef>
                <a:spcPts val="0"/>
              </a:spcBef>
              <a:spcAft>
                <a:spcPts val="0"/>
              </a:spcAft>
              <a:buClr>
                <a:srgbClr val="443728"/>
              </a:buClr>
              <a:buSzPts val="1600"/>
              <a:buFont typeface="Open Sans"/>
              <a:buNone/>
            </a:pPr>
            <a:r>
              <a:rPr b="1" i="0" lang="en-US" sz="1600" u="none" cap="none" strike="noStrike">
                <a:solidFill>
                  <a:srgbClr val="443728"/>
                </a:solidFill>
                <a:latin typeface="Open Sans"/>
                <a:ea typeface="Open Sans"/>
                <a:cs typeface="Open Sans"/>
                <a:sym typeface="Open Sans"/>
              </a:rPr>
              <a:t>ĐỒ ÁN CHUYÊN ĐỀ ASP.NET</a:t>
            </a:r>
            <a:endParaRPr b="0" i="0" sz="1600" u="none" cap="none" strike="noStrike"/>
          </a:p>
        </p:txBody>
      </p:sp>
      <p:sp>
        <p:nvSpPr>
          <p:cNvPr id="47" name="Google Shape;47;p9"/>
          <p:cNvSpPr/>
          <p:nvPr/>
        </p:nvSpPr>
        <p:spPr>
          <a:xfrm>
            <a:off x="2839522" y="5127427"/>
            <a:ext cx="8951357" cy="517565"/>
          </a:xfrm>
          <a:prstGeom prst="rect">
            <a:avLst/>
          </a:prstGeom>
          <a:noFill/>
          <a:ln>
            <a:noFill/>
          </a:ln>
        </p:spPr>
        <p:txBody>
          <a:bodyPr anchorCtr="0" anchor="t" bIns="0" lIns="0" spcFirstLastPara="1" rIns="0" wrap="square" tIns="0">
            <a:noAutofit/>
          </a:bodyPr>
          <a:lstStyle/>
          <a:p>
            <a:pPr indent="0" lvl="0" marL="0" marR="0" rtl="0" algn="ctr">
              <a:lnSpc>
                <a:spcPct val="124615"/>
              </a:lnSpc>
              <a:spcBef>
                <a:spcPts val="0"/>
              </a:spcBef>
              <a:spcAft>
                <a:spcPts val="0"/>
              </a:spcAft>
              <a:buClr>
                <a:srgbClr val="443728"/>
              </a:buClr>
              <a:buSzPts val="3250"/>
              <a:buFont typeface="Crimson Pro"/>
              <a:buNone/>
            </a:pPr>
            <a:r>
              <a:rPr b="1" i="0" lang="en-US" sz="3250" u="none" cap="none" strike="noStrike">
                <a:solidFill>
                  <a:srgbClr val="443728"/>
                </a:solidFill>
                <a:latin typeface="Crimson Pro"/>
                <a:ea typeface="Crimson Pro"/>
                <a:cs typeface="Crimson Pro"/>
                <a:sym typeface="Crimson Pro"/>
              </a:rPr>
              <a:t>"Xây dựng trang web bán hàng Apple với ASP.NET"</a:t>
            </a:r>
            <a:endParaRPr b="0" i="0" sz="3250" u="none" cap="none" strike="noStrike"/>
          </a:p>
        </p:txBody>
      </p:sp>
      <p:sp>
        <p:nvSpPr>
          <p:cNvPr id="48" name="Google Shape;48;p9"/>
          <p:cNvSpPr/>
          <p:nvPr/>
        </p:nvSpPr>
        <p:spPr>
          <a:xfrm>
            <a:off x="724733" y="5955506"/>
            <a:ext cx="13180933" cy="264914"/>
          </a:xfrm>
          <a:prstGeom prst="rect">
            <a:avLst/>
          </a:prstGeom>
          <a:noFill/>
          <a:ln>
            <a:noFill/>
          </a:ln>
        </p:spPr>
        <p:txBody>
          <a:bodyPr anchorCtr="0" anchor="t" bIns="0" lIns="0" spcFirstLastPara="1" rIns="0" wrap="square" tIns="0">
            <a:noAutofit/>
          </a:bodyPr>
          <a:lstStyle/>
          <a:p>
            <a:pPr indent="0" lvl="0" marL="0" marR="0" rtl="0" algn="ctr">
              <a:lnSpc>
                <a:spcPct val="157692"/>
              </a:lnSpc>
              <a:spcBef>
                <a:spcPts val="0"/>
              </a:spcBef>
              <a:spcAft>
                <a:spcPts val="0"/>
              </a:spcAft>
              <a:buClr>
                <a:srgbClr val="443728"/>
              </a:buClr>
              <a:buSzPts val="1300"/>
              <a:buFont typeface="Open Sans"/>
              <a:buNone/>
            </a:pPr>
            <a:r>
              <a:rPr b="1" i="0" lang="en-US" sz="1300" u="none" cap="none" strike="noStrike">
                <a:solidFill>
                  <a:srgbClr val="443728"/>
                </a:solidFill>
                <a:latin typeface="Open Sans"/>
                <a:ea typeface="Open Sans"/>
                <a:cs typeface="Open Sans"/>
                <a:sym typeface="Open Sans"/>
              </a:rPr>
              <a:t>Giảng viên hướng dẫn:</a:t>
            </a:r>
            <a:r>
              <a:rPr b="0" i="0" lang="en-US" sz="1300" u="none" cap="none" strike="noStrike">
                <a:solidFill>
                  <a:srgbClr val="443728"/>
                </a:solidFill>
                <a:latin typeface="Open Sans"/>
                <a:ea typeface="Open Sans"/>
                <a:cs typeface="Open Sans"/>
                <a:sym typeface="Open Sans"/>
              </a:rPr>
              <a:t> </a:t>
            </a:r>
            <a:r>
              <a:rPr b="1" i="0" lang="en-US" sz="1300" u="none" cap="none" strike="noStrike">
                <a:solidFill>
                  <a:srgbClr val="443728"/>
                </a:solidFill>
                <a:latin typeface="Open Sans"/>
                <a:ea typeface="Open Sans"/>
                <a:cs typeface="Open Sans"/>
                <a:sym typeface="Open Sans"/>
              </a:rPr>
              <a:t>TS NGUYỄN NHỨT LAM</a:t>
            </a:r>
            <a:endParaRPr b="0" i="0" sz="1300" u="none" cap="none" strike="noStrike"/>
          </a:p>
        </p:txBody>
      </p:sp>
      <p:sp>
        <p:nvSpPr>
          <p:cNvPr id="49" name="Google Shape;49;p9"/>
          <p:cNvSpPr/>
          <p:nvPr/>
        </p:nvSpPr>
        <p:spPr>
          <a:xfrm>
            <a:off x="724733" y="6453307"/>
            <a:ext cx="13180933" cy="264914"/>
          </a:xfrm>
          <a:prstGeom prst="rect">
            <a:avLst/>
          </a:prstGeom>
          <a:noFill/>
          <a:ln>
            <a:noFill/>
          </a:ln>
        </p:spPr>
        <p:txBody>
          <a:bodyPr anchorCtr="0" anchor="t" bIns="0" lIns="0" spcFirstLastPara="1" rIns="0" wrap="square" tIns="0">
            <a:noAutofit/>
          </a:bodyPr>
          <a:lstStyle/>
          <a:p>
            <a:pPr indent="0" lvl="0" marL="0" marR="0" rtl="0" algn="ctr">
              <a:lnSpc>
                <a:spcPct val="157692"/>
              </a:lnSpc>
              <a:spcBef>
                <a:spcPts val="0"/>
              </a:spcBef>
              <a:spcAft>
                <a:spcPts val="0"/>
              </a:spcAft>
              <a:buClr>
                <a:srgbClr val="443728"/>
              </a:buClr>
              <a:buSzPts val="1300"/>
              <a:buFont typeface="Open Sans"/>
              <a:buNone/>
            </a:pPr>
            <a:r>
              <a:rPr b="1" i="0" lang="en-US" sz="1300" u="none" cap="none" strike="noStrike">
                <a:solidFill>
                  <a:srgbClr val="443728"/>
                </a:solidFill>
                <a:latin typeface="Open Sans"/>
                <a:ea typeface="Open Sans"/>
                <a:cs typeface="Open Sans"/>
                <a:sym typeface="Open Sans"/>
              </a:rPr>
              <a:t>Sinh viên thực hiện:</a:t>
            </a:r>
            <a:r>
              <a:rPr b="0" i="0" lang="en-US" sz="1300" u="none" cap="none" strike="noStrike">
                <a:solidFill>
                  <a:srgbClr val="443728"/>
                </a:solidFill>
                <a:latin typeface="Open Sans"/>
                <a:ea typeface="Open Sans"/>
                <a:cs typeface="Open Sans"/>
                <a:sym typeface="Open Sans"/>
              </a:rPr>
              <a:t> </a:t>
            </a:r>
            <a:r>
              <a:rPr b="1" i="0" lang="en-US" sz="1300" u="none" cap="none" strike="noStrike">
                <a:solidFill>
                  <a:srgbClr val="443728"/>
                </a:solidFill>
                <a:latin typeface="Open Sans"/>
                <a:ea typeface="Open Sans"/>
                <a:cs typeface="Open Sans"/>
                <a:sym typeface="Open Sans"/>
              </a:rPr>
              <a:t>TỐNG QUỐC SỰ</a:t>
            </a:r>
            <a:endParaRPr b="0" i="0" sz="1300" u="none" cap="none" strike="noStrike"/>
          </a:p>
        </p:txBody>
      </p:sp>
      <p:sp>
        <p:nvSpPr>
          <p:cNvPr id="50" name="Google Shape;50;p9"/>
          <p:cNvSpPr/>
          <p:nvPr/>
        </p:nvSpPr>
        <p:spPr>
          <a:xfrm>
            <a:off x="724733" y="6951107"/>
            <a:ext cx="13180933" cy="264914"/>
          </a:xfrm>
          <a:prstGeom prst="rect">
            <a:avLst/>
          </a:prstGeom>
          <a:noFill/>
          <a:ln>
            <a:noFill/>
          </a:ln>
        </p:spPr>
        <p:txBody>
          <a:bodyPr anchorCtr="0" anchor="t" bIns="0" lIns="0" spcFirstLastPara="1" rIns="0" wrap="square" tIns="0">
            <a:noAutofit/>
          </a:bodyPr>
          <a:lstStyle/>
          <a:p>
            <a:pPr indent="0" lvl="0" marL="0" marR="0" rtl="0" algn="ctr">
              <a:lnSpc>
                <a:spcPct val="157692"/>
              </a:lnSpc>
              <a:spcBef>
                <a:spcPts val="0"/>
              </a:spcBef>
              <a:spcAft>
                <a:spcPts val="0"/>
              </a:spcAft>
              <a:buClr>
                <a:srgbClr val="443728"/>
              </a:buClr>
              <a:buSzPts val="1300"/>
              <a:buFont typeface="Open Sans"/>
              <a:buNone/>
            </a:pPr>
            <a:r>
              <a:rPr b="1" i="0" lang="en-US" sz="1300" u="none" cap="none" strike="noStrike">
                <a:solidFill>
                  <a:srgbClr val="443728"/>
                </a:solidFill>
                <a:latin typeface="Open Sans"/>
                <a:ea typeface="Open Sans"/>
                <a:cs typeface="Open Sans"/>
                <a:sym typeface="Open Sans"/>
              </a:rPr>
              <a:t>Mã số sinh viên:</a:t>
            </a:r>
            <a:r>
              <a:rPr b="0" i="0" lang="en-US" sz="1300" u="none" cap="none" strike="noStrike">
                <a:solidFill>
                  <a:srgbClr val="443728"/>
                </a:solidFill>
                <a:latin typeface="Open Sans"/>
                <a:ea typeface="Open Sans"/>
                <a:cs typeface="Open Sans"/>
                <a:sym typeface="Open Sans"/>
              </a:rPr>
              <a:t> </a:t>
            </a:r>
            <a:r>
              <a:rPr b="1" i="0" lang="en-US" sz="1300" u="none" cap="none" strike="noStrike">
                <a:solidFill>
                  <a:srgbClr val="443728"/>
                </a:solidFill>
                <a:latin typeface="Open Sans"/>
                <a:ea typeface="Open Sans"/>
                <a:cs typeface="Open Sans"/>
                <a:sym typeface="Open Sans"/>
              </a:rPr>
              <a:t>170122083</a:t>
            </a:r>
            <a:endParaRPr b="0" i="0" sz="1300" u="none" cap="none" strike="noStrike"/>
          </a:p>
        </p:txBody>
      </p:sp>
      <p:sp>
        <p:nvSpPr>
          <p:cNvPr id="51" name="Google Shape;51;p9"/>
          <p:cNvSpPr/>
          <p:nvPr/>
        </p:nvSpPr>
        <p:spPr>
          <a:xfrm>
            <a:off x="724733" y="7448907"/>
            <a:ext cx="13180933" cy="264914"/>
          </a:xfrm>
          <a:prstGeom prst="rect">
            <a:avLst/>
          </a:prstGeom>
          <a:noFill/>
          <a:ln>
            <a:noFill/>
          </a:ln>
        </p:spPr>
        <p:txBody>
          <a:bodyPr anchorCtr="0" anchor="t" bIns="0" lIns="0" spcFirstLastPara="1" rIns="0" wrap="square" tIns="0">
            <a:noAutofit/>
          </a:bodyPr>
          <a:lstStyle/>
          <a:p>
            <a:pPr indent="0" lvl="0" marL="0" marR="0" rtl="0" algn="ctr">
              <a:lnSpc>
                <a:spcPct val="157692"/>
              </a:lnSpc>
              <a:spcBef>
                <a:spcPts val="0"/>
              </a:spcBef>
              <a:spcAft>
                <a:spcPts val="0"/>
              </a:spcAft>
              <a:buClr>
                <a:srgbClr val="443728"/>
              </a:buClr>
              <a:buSzPts val="1300"/>
              <a:buFont typeface="Open Sans"/>
              <a:buNone/>
            </a:pPr>
            <a:r>
              <a:rPr b="1" i="0" lang="en-US" sz="1300" u="none" cap="none" strike="noStrike">
                <a:solidFill>
                  <a:srgbClr val="443728"/>
                </a:solidFill>
                <a:latin typeface="Open Sans"/>
                <a:ea typeface="Open Sans"/>
                <a:cs typeface="Open Sans"/>
                <a:sym typeface="Open Sans"/>
              </a:rPr>
              <a:t>Lớp:</a:t>
            </a:r>
            <a:r>
              <a:rPr b="0" i="0" lang="en-US" sz="1300" u="none" cap="none" strike="noStrike">
                <a:solidFill>
                  <a:srgbClr val="443728"/>
                </a:solidFill>
                <a:latin typeface="Open Sans"/>
                <a:ea typeface="Open Sans"/>
                <a:cs typeface="Open Sans"/>
                <a:sym typeface="Open Sans"/>
              </a:rPr>
              <a:t> </a:t>
            </a:r>
            <a:r>
              <a:rPr b="1" i="0" lang="en-US" sz="1300" u="none" cap="none" strike="noStrike">
                <a:solidFill>
                  <a:srgbClr val="443728"/>
                </a:solidFill>
                <a:latin typeface="Open Sans"/>
                <a:ea typeface="Open Sans"/>
                <a:cs typeface="Open Sans"/>
                <a:sym typeface="Open Sans"/>
              </a:rPr>
              <a:t>DX22TT4</a:t>
            </a:r>
            <a:endParaRPr b="0" i="0" sz="13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10"/>
          <p:cNvSpPr/>
          <p:nvPr/>
        </p:nvSpPr>
        <p:spPr>
          <a:xfrm>
            <a:off x="793790" y="1995607"/>
            <a:ext cx="732591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4450"/>
              <a:buFont typeface="Crimson Pro"/>
              <a:buNone/>
            </a:pPr>
            <a:r>
              <a:rPr b="1" i="0" lang="en-US" sz="4450" u="none" cap="none" strike="noStrike">
                <a:solidFill>
                  <a:srgbClr val="443728"/>
                </a:solidFill>
                <a:latin typeface="Crimson Pro"/>
                <a:ea typeface="Crimson Pro"/>
                <a:cs typeface="Crimson Pro"/>
                <a:sym typeface="Crimson Pro"/>
              </a:rPr>
              <a:t>Giới thiệu về ASP.NET và đề tài</a:t>
            </a:r>
            <a:endParaRPr b="0" i="0" sz="4450" u="none" cap="none" strike="noStrike"/>
          </a:p>
        </p:txBody>
      </p:sp>
      <p:sp>
        <p:nvSpPr>
          <p:cNvPr id="58" name="Google Shape;58;p10"/>
          <p:cNvSpPr/>
          <p:nvPr/>
        </p:nvSpPr>
        <p:spPr>
          <a:xfrm>
            <a:off x="793790" y="327136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Tổng quan về ASP.NET</a:t>
            </a:r>
            <a:endParaRPr b="0" i="0" sz="2200" u="none" cap="none" strike="noStrike"/>
          </a:p>
        </p:txBody>
      </p:sp>
      <p:sp>
        <p:nvSpPr>
          <p:cNvPr id="59" name="Google Shape;59;p10"/>
          <p:cNvSpPr/>
          <p:nvPr/>
        </p:nvSpPr>
        <p:spPr>
          <a:xfrm>
            <a:off x="793790" y="3852505"/>
            <a:ext cx="6244709"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ASP.NET là một nền tảng phát triển ứng dụng web mạnh mẽ của Microsoft, hỗ trợ kiến trúc MVC (Model-View-Controller) và Web API. ASP.NET cung cấp một môi trường bảo mật, hiệu suất cao và khả năng mở rộng linh hoạt, là lựa chọn lý tưởng cho việc xây dựng các ứng dụng web phức tạp.</a:t>
            </a:r>
            <a:endParaRPr b="0" i="0" sz="1750" u="none" cap="none" strike="noStrike"/>
          </a:p>
        </p:txBody>
      </p:sp>
      <p:sp>
        <p:nvSpPr>
          <p:cNvPr id="60" name="Google Shape;60;p10"/>
          <p:cNvSpPr/>
          <p:nvPr/>
        </p:nvSpPr>
        <p:spPr>
          <a:xfrm>
            <a:off x="7599521" y="327136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Lý do chọn đề tài</a:t>
            </a:r>
            <a:endParaRPr b="0" i="0" sz="2200" u="none" cap="none" strike="noStrike"/>
          </a:p>
        </p:txBody>
      </p:sp>
      <p:sp>
        <p:nvSpPr>
          <p:cNvPr id="61" name="Google Shape;61;p10"/>
          <p:cNvSpPr/>
          <p:nvPr/>
        </p:nvSpPr>
        <p:spPr>
          <a:xfrm>
            <a:off x="7599521" y="3852505"/>
            <a:ext cx="6244709"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Thương mại điện tử đang phát triển mạnh mẽ, đặc biệt là tại Việt Nam, và Apple là một thương hiệu được yêu thích với lượng người hâm mộ đông đảo. Do đó, xây dựng một trang web bán hàng Apple bằng ASP.NET là một dự án đầy tiềm năng và có tính ứng dụng cao.</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11"/>
          <p:cNvSpPr/>
          <p:nvPr/>
        </p:nvSpPr>
        <p:spPr>
          <a:xfrm>
            <a:off x="793790" y="1890593"/>
            <a:ext cx="9062799"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4450"/>
              <a:buFont typeface="Crimson Pro"/>
              <a:buNone/>
            </a:pPr>
            <a:r>
              <a:rPr b="1" i="0" lang="en-US" sz="4450" u="none" cap="none" strike="noStrike">
                <a:solidFill>
                  <a:srgbClr val="443728"/>
                </a:solidFill>
                <a:latin typeface="Crimson Pro"/>
                <a:ea typeface="Crimson Pro"/>
                <a:cs typeface="Crimson Pro"/>
                <a:sym typeface="Crimson Pro"/>
              </a:rPr>
              <a:t>Phân tích yêu cầu và thiết kế hệ thống</a:t>
            </a:r>
            <a:endParaRPr b="0" i="0" sz="4450" u="none" cap="none" strike="noStrike"/>
          </a:p>
        </p:txBody>
      </p:sp>
      <p:sp>
        <p:nvSpPr>
          <p:cNvPr id="68" name="Google Shape;68;p11"/>
          <p:cNvSpPr/>
          <p:nvPr/>
        </p:nvSpPr>
        <p:spPr>
          <a:xfrm>
            <a:off x="793790" y="3308152"/>
            <a:ext cx="510302" cy="510302"/>
          </a:xfrm>
          <a:prstGeom prst="roundRect">
            <a:avLst>
              <a:gd fmla="val 18669" name="adj"/>
            </a:avLst>
          </a:prstGeom>
          <a:solidFill>
            <a:srgbClr val="EBE2E0"/>
          </a:solidFill>
          <a:ln cap="flat" cmpd="sng" w="9525">
            <a:solidFill>
              <a:srgbClr val="D1C8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1"/>
          <p:cNvSpPr/>
          <p:nvPr/>
        </p:nvSpPr>
        <p:spPr>
          <a:xfrm>
            <a:off x="985242" y="3393162"/>
            <a:ext cx="127278"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2650"/>
              <a:buFont typeface="Crimson Pro"/>
              <a:buNone/>
            </a:pPr>
            <a:r>
              <a:rPr b="1" i="0" lang="en-US" sz="2650" u="none" cap="none" strike="noStrike">
                <a:solidFill>
                  <a:srgbClr val="443728"/>
                </a:solidFill>
                <a:latin typeface="Crimson Pro"/>
                <a:ea typeface="Crimson Pro"/>
                <a:cs typeface="Crimson Pro"/>
                <a:sym typeface="Crimson Pro"/>
              </a:rPr>
              <a:t>1</a:t>
            </a:r>
            <a:endParaRPr b="0" i="0" sz="2650" u="none" cap="none" strike="noStrike"/>
          </a:p>
        </p:txBody>
      </p:sp>
      <p:sp>
        <p:nvSpPr>
          <p:cNvPr id="70" name="Google Shape;70;p11"/>
          <p:cNvSpPr/>
          <p:nvPr/>
        </p:nvSpPr>
        <p:spPr>
          <a:xfrm>
            <a:off x="1530906" y="330815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Chức năng chính</a:t>
            </a:r>
            <a:endParaRPr b="0" i="0" sz="2200" u="none" cap="none" strike="noStrike"/>
          </a:p>
        </p:txBody>
      </p:sp>
      <p:sp>
        <p:nvSpPr>
          <p:cNvPr id="71" name="Google Shape;71;p11"/>
          <p:cNvSpPr/>
          <p:nvPr/>
        </p:nvSpPr>
        <p:spPr>
          <a:xfrm>
            <a:off x="1530906" y="3798570"/>
            <a:ext cx="3459242"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Trang web cần có các chức năng chính như trang chủ giới thiệu sản phẩm, danh mục sản phẩm, trang chi tiết sản phẩm, giỏ hàng và thanh toán, cũng như quản lý tài khoản người dùng.</a:t>
            </a:r>
            <a:endParaRPr b="0" i="0" sz="1750" u="none" cap="none" strike="noStrike"/>
          </a:p>
        </p:txBody>
      </p:sp>
      <p:sp>
        <p:nvSpPr>
          <p:cNvPr id="72" name="Google Shape;72;p11"/>
          <p:cNvSpPr/>
          <p:nvPr/>
        </p:nvSpPr>
        <p:spPr>
          <a:xfrm>
            <a:off x="5216962" y="3308152"/>
            <a:ext cx="510302" cy="510302"/>
          </a:xfrm>
          <a:prstGeom prst="roundRect">
            <a:avLst>
              <a:gd fmla="val 18669" name="adj"/>
            </a:avLst>
          </a:prstGeom>
          <a:solidFill>
            <a:srgbClr val="EBE2E0"/>
          </a:solidFill>
          <a:ln cap="flat" cmpd="sng" w="9525">
            <a:solidFill>
              <a:srgbClr val="D1C8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1"/>
          <p:cNvSpPr/>
          <p:nvPr/>
        </p:nvSpPr>
        <p:spPr>
          <a:xfrm>
            <a:off x="5385316" y="3393162"/>
            <a:ext cx="173474"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2650"/>
              <a:buFont typeface="Crimson Pro"/>
              <a:buNone/>
            </a:pPr>
            <a:r>
              <a:rPr b="1" i="0" lang="en-US" sz="2650" u="none" cap="none" strike="noStrike">
                <a:solidFill>
                  <a:srgbClr val="443728"/>
                </a:solidFill>
                <a:latin typeface="Crimson Pro"/>
                <a:ea typeface="Crimson Pro"/>
                <a:cs typeface="Crimson Pro"/>
                <a:sym typeface="Crimson Pro"/>
              </a:rPr>
              <a:t>2</a:t>
            </a:r>
            <a:endParaRPr b="0" i="0" sz="2650" u="none" cap="none" strike="noStrike"/>
          </a:p>
        </p:txBody>
      </p:sp>
      <p:sp>
        <p:nvSpPr>
          <p:cNvPr id="74" name="Google Shape;74;p11"/>
          <p:cNvSpPr/>
          <p:nvPr/>
        </p:nvSpPr>
        <p:spPr>
          <a:xfrm>
            <a:off x="5954078" y="330815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Thiết kế cơ sở dữ liệu</a:t>
            </a:r>
            <a:endParaRPr b="0" i="0" sz="2200" u="none" cap="none" strike="noStrike"/>
          </a:p>
        </p:txBody>
      </p:sp>
      <p:sp>
        <p:nvSpPr>
          <p:cNvPr id="75" name="Google Shape;75;p11"/>
          <p:cNvSpPr/>
          <p:nvPr/>
        </p:nvSpPr>
        <p:spPr>
          <a:xfrm>
            <a:off x="5954078" y="3798570"/>
            <a:ext cx="3459242"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Cơ sở dữ liệu sẽ sử dụng SQL Server và bao gồm các bảng như sản phẩm, người dùng, đơn hàng và danh mục. Mối quan hệ giữa các bảng sẽ được thiết kế để đảm bảo tính toàn vẹn và hiệu quả của dữ liệu.</a:t>
            </a:r>
            <a:endParaRPr b="0" i="0" sz="1750" u="none" cap="none" strike="noStrike"/>
          </a:p>
        </p:txBody>
      </p:sp>
      <p:sp>
        <p:nvSpPr>
          <p:cNvPr id="76" name="Google Shape;76;p11"/>
          <p:cNvSpPr/>
          <p:nvPr/>
        </p:nvSpPr>
        <p:spPr>
          <a:xfrm>
            <a:off x="9640133" y="3308152"/>
            <a:ext cx="510302" cy="510302"/>
          </a:xfrm>
          <a:prstGeom prst="roundRect">
            <a:avLst>
              <a:gd fmla="val 18669" name="adj"/>
            </a:avLst>
          </a:prstGeom>
          <a:solidFill>
            <a:srgbClr val="EBE2E0"/>
          </a:solidFill>
          <a:ln cap="flat" cmpd="sng" w="9525">
            <a:solidFill>
              <a:srgbClr val="D1C8C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1"/>
          <p:cNvSpPr/>
          <p:nvPr/>
        </p:nvSpPr>
        <p:spPr>
          <a:xfrm>
            <a:off x="9812179" y="3393162"/>
            <a:ext cx="166211" cy="340281"/>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443728"/>
              </a:buClr>
              <a:buSzPts val="2650"/>
              <a:buFont typeface="Crimson Pro"/>
              <a:buNone/>
            </a:pPr>
            <a:r>
              <a:rPr b="1" i="0" lang="en-US" sz="2650" u="none" cap="none" strike="noStrike">
                <a:solidFill>
                  <a:srgbClr val="443728"/>
                </a:solidFill>
                <a:latin typeface="Crimson Pro"/>
                <a:ea typeface="Crimson Pro"/>
                <a:cs typeface="Crimson Pro"/>
                <a:sym typeface="Crimson Pro"/>
              </a:rPr>
              <a:t>3</a:t>
            </a:r>
            <a:endParaRPr b="0" i="0" sz="2650" u="none" cap="none" strike="noStrike"/>
          </a:p>
        </p:txBody>
      </p:sp>
      <p:sp>
        <p:nvSpPr>
          <p:cNvPr id="78" name="Google Shape;78;p11"/>
          <p:cNvSpPr/>
          <p:nvPr/>
        </p:nvSpPr>
        <p:spPr>
          <a:xfrm>
            <a:off x="10377249" y="3308152"/>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Thiết kế giao diện</a:t>
            </a:r>
            <a:endParaRPr b="0" i="0" sz="2200" u="none" cap="none" strike="noStrike"/>
          </a:p>
        </p:txBody>
      </p:sp>
      <p:sp>
        <p:nvSpPr>
          <p:cNvPr id="79" name="Google Shape;79;p11"/>
          <p:cNvSpPr/>
          <p:nvPr/>
        </p:nvSpPr>
        <p:spPr>
          <a:xfrm>
            <a:off x="10377249" y="3798570"/>
            <a:ext cx="3459242"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Giao diện người dùng sẽ được thiết kế theo phong cách tối giản, hiện đại của Apple, sử dụng Bootstrap hoặc các framework UI khác để đảm bảo tính responsive và thân thiện với người dùng.</a:t>
            </a:r>
            <a:endParaRPr b="0" i="0" sz="175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12"/>
          <p:cNvSpPr/>
          <p:nvPr/>
        </p:nvSpPr>
        <p:spPr>
          <a:xfrm>
            <a:off x="793790" y="1099661"/>
            <a:ext cx="9101018"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4450"/>
              <a:buFont typeface="Crimson Pro"/>
              <a:buNone/>
            </a:pPr>
            <a:r>
              <a:rPr b="1" i="0" lang="en-US" sz="4450" u="none" cap="none" strike="noStrike">
                <a:solidFill>
                  <a:srgbClr val="443728"/>
                </a:solidFill>
                <a:latin typeface="Crimson Pro"/>
                <a:ea typeface="Crimson Pro"/>
                <a:cs typeface="Crimson Pro"/>
                <a:sym typeface="Crimson Pro"/>
              </a:rPr>
              <a:t>Xây dựng trang web với ASP.NET MVC</a:t>
            </a:r>
            <a:endParaRPr b="0" i="0" sz="4450" u="none" cap="none" strike="noStrike"/>
          </a:p>
        </p:txBody>
      </p:sp>
      <p:pic>
        <p:nvPicPr>
          <p:cNvPr descr="preencoded.png" id="86" name="Google Shape;86;p12"/>
          <p:cNvPicPr preferRelativeResize="0"/>
          <p:nvPr/>
        </p:nvPicPr>
        <p:blipFill rotWithShape="1">
          <a:blip r:embed="rId3">
            <a:alphaModFix/>
          </a:blip>
          <a:srcRect b="0" l="0" r="0" t="0"/>
          <a:stretch/>
        </p:blipFill>
        <p:spPr>
          <a:xfrm>
            <a:off x="793790" y="2262068"/>
            <a:ext cx="3260646" cy="907256"/>
          </a:xfrm>
          <a:prstGeom prst="rect">
            <a:avLst/>
          </a:prstGeom>
          <a:noFill/>
          <a:ln>
            <a:noFill/>
          </a:ln>
        </p:spPr>
      </p:pic>
      <p:sp>
        <p:nvSpPr>
          <p:cNvPr id="87" name="Google Shape;87;p12"/>
          <p:cNvSpPr/>
          <p:nvPr/>
        </p:nvSpPr>
        <p:spPr>
          <a:xfrm>
            <a:off x="1020604" y="3509486"/>
            <a:ext cx="280701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Tạo project MVC</a:t>
            </a:r>
            <a:endParaRPr b="0" i="0" sz="2200" u="none" cap="none" strike="noStrike"/>
          </a:p>
        </p:txBody>
      </p:sp>
      <p:sp>
        <p:nvSpPr>
          <p:cNvPr id="88" name="Google Shape;88;p12"/>
          <p:cNvSpPr/>
          <p:nvPr/>
        </p:nvSpPr>
        <p:spPr>
          <a:xfrm>
            <a:off x="1020604" y="3999905"/>
            <a:ext cx="2807018"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Bắt đầu bằng việc tạo một project ASP.NET MVC trong Visual Studio. Đây là bước đầu tiên để thiết lập cấu trúc dự án và các thành phần cơ bản.</a:t>
            </a:r>
            <a:endParaRPr b="0" i="0" sz="1750" u="none" cap="none" strike="noStrike"/>
          </a:p>
        </p:txBody>
      </p:sp>
      <p:pic>
        <p:nvPicPr>
          <p:cNvPr descr="preencoded.png" id="89" name="Google Shape;89;p12"/>
          <p:cNvPicPr preferRelativeResize="0"/>
          <p:nvPr/>
        </p:nvPicPr>
        <p:blipFill rotWithShape="1">
          <a:blip r:embed="rId4">
            <a:alphaModFix/>
          </a:blip>
          <a:srcRect b="0" l="0" r="0" t="0"/>
          <a:stretch/>
        </p:blipFill>
        <p:spPr>
          <a:xfrm>
            <a:off x="4054435" y="2262068"/>
            <a:ext cx="3260765" cy="907256"/>
          </a:xfrm>
          <a:prstGeom prst="rect">
            <a:avLst/>
          </a:prstGeom>
          <a:noFill/>
          <a:ln>
            <a:noFill/>
          </a:ln>
        </p:spPr>
      </p:pic>
      <p:sp>
        <p:nvSpPr>
          <p:cNvPr id="90" name="Google Shape;90;p12"/>
          <p:cNvSpPr/>
          <p:nvPr/>
        </p:nvSpPr>
        <p:spPr>
          <a:xfrm>
            <a:off x="4281249" y="3509486"/>
            <a:ext cx="280713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Xây dựng Model</a:t>
            </a:r>
            <a:endParaRPr b="0" i="0" sz="2200" u="none" cap="none" strike="noStrike"/>
          </a:p>
        </p:txBody>
      </p:sp>
      <p:sp>
        <p:nvSpPr>
          <p:cNvPr id="91" name="Google Shape;91;p12"/>
          <p:cNvSpPr/>
          <p:nvPr/>
        </p:nvSpPr>
        <p:spPr>
          <a:xfrm>
            <a:off x="4281249" y="3999905"/>
            <a:ext cx="2807137" cy="290322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Tiếp theo, xây dựng các Model (mô hình dữ liệu) tương ứng với các bảng trong cơ sở dữ liệu. Các Model này đại diện cho cấu trúc dữ liệu và cung cấp phương thức truy cập dữ liệu.</a:t>
            </a:r>
            <a:endParaRPr b="0" i="0" sz="1750" u="none" cap="none" strike="noStrike"/>
          </a:p>
        </p:txBody>
      </p:sp>
      <p:pic>
        <p:nvPicPr>
          <p:cNvPr descr="preencoded.png" id="92" name="Google Shape;92;p12"/>
          <p:cNvPicPr preferRelativeResize="0"/>
          <p:nvPr/>
        </p:nvPicPr>
        <p:blipFill rotWithShape="1">
          <a:blip r:embed="rId5">
            <a:alphaModFix/>
          </a:blip>
          <a:srcRect b="0" l="0" r="0" t="0"/>
          <a:stretch/>
        </p:blipFill>
        <p:spPr>
          <a:xfrm>
            <a:off x="7315200" y="2262068"/>
            <a:ext cx="3260646" cy="907256"/>
          </a:xfrm>
          <a:prstGeom prst="rect">
            <a:avLst/>
          </a:prstGeom>
          <a:noFill/>
          <a:ln>
            <a:noFill/>
          </a:ln>
        </p:spPr>
      </p:pic>
      <p:sp>
        <p:nvSpPr>
          <p:cNvPr id="93" name="Google Shape;93;p12"/>
          <p:cNvSpPr/>
          <p:nvPr/>
        </p:nvSpPr>
        <p:spPr>
          <a:xfrm>
            <a:off x="7542014" y="3509486"/>
            <a:ext cx="2807018"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Xây dựng Controller</a:t>
            </a:r>
            <a:endParaRPr b="0" i="0" sz="2200" u="none" cap="none" strike="noStrike"/>
          </a:p>
        </p:txBody>
      </p:sp>
      <p:sp>
        <p:nvSpPr>
          <p:cNvPr id="94" name="Google Shape;94;p12"/>
          <p:cNvSpPr/>
          <p:nvPr/>
        </p:nvSpPr>
        <p:spPr>
          <a:xfrm>
            <a:off x="7542014" y="3999905"/>
            <a:ext cx="2807018"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Xây dựng các Controller (bộ điều khiển) để xử lý các yêu cầu từ người dùng và tương tác với Model. Controller đóng vai trò trung gian giữa View và Model.</a:t>
            </a:r>
            <a:endParaRPr b="0" i="0" sz="1750" u="none" cap="none" strike="noStrike"/>
          </a:p>
        </p:txBody>
      </p:sp>
      <p:pic>
        <p:nvPicPr>
          <p:cNvPr descr="preencoded.png" id="95" name="Google Shape;95;p12"/>
          <p:cNvPicPr preferRelativeResize="0"/>
          <p:nvPr/>
        </p:nvPicPr>
        <p:blipFill rotWithShape="1">
          <a:blip r:embed="rId6">
            <a:alphaModFix/>
          </a:blip>
          <a:srcRect b="0" l="0" r="0" t="0"/>
          <a:stretch/>
        </p:blipFill>
        <p:spPr>
          <a:xfrm>
            <a:off x="10575846" y="2262068"/>
            <a:ext cx="3260765" cy="907256"/>
          </a:xfrm>
          <a:prstGeom prst="rect">
            <a:avLst/>
          </a:prstGeom>
          <a:noFill/>
          <a:ln>
            <a:noFill/>
          </a:ln>
        </p:spPr>
      </p:pic>
      <p:sp>
        <p:nvSpPr>
          <p:cNvPr id="96" name="Google Shape;96;p12"/>
          <p:cNvSpPr/>
          <p:nvPr/>
        </p:nvSpPr>
        <p:spPr>
          <a:xfrm>
            <a:off x="10802660" y="3509486"/>
            <a:ext cx="2807137"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443728"/>
              </a:buClr>
              <a:buSzPts val="2200"/>
              <a:buFont typeface="Crimson Pro"/>
              <a:buNone/>
            </a:pPr>
            <a:r>
              <a:rPr b="1" i="0" lang="en-US" sz="2200" u="none" cap="none" strike="noStrike">
                <a:solidFill>
                  <a:srgbClr val="443728"/>
                </a:solidFill>
                <a:latin typeface="Crimson Pro"/>
                <a:ea typeface="Crimson Pro"/>
                <a:cs typeface="Crimson Pro"/>
                <a:sym typeface="Crimson Pro"/>
              </a:rPr>
              <a:t>Xây dựng View</a:t>
            </a:r>
            <a:endParaRPr b="0" i="0" sz="2200" u="none" cap="none" strike="noStrike"/>
          </a:p>
        </p:txBody>
      </p:sp>
      <p:sp>
        <p:nvSpPr>
          <p:cNvPr id="97" name="Google Shape;97;p12"/>
          <p:cNvSpPr/>
          <p:nvPr/>
        </p:nvSpPr>
        <p:spPr>
          <a:xfrm>
            <a:off x="10802660" y="3999905"/>
            <a:ext cx="2807137" cy="254031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Xây dựng các View (giao diện) để hiển thị dữ liệu cho người dùng. View sử dụng HTML, CSS và JavaScript để tạo ra giao diện trực quan và tương tác.</a:t>
            </a:r>
            <a:endParaRPr b="0" i="0" sz="175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pic>
        <p:nvPicPr>
          <p:cNvPr descr="preencoded.png" id="103" name="Google Shape;103;p13"/>
          <p:cNvPicPr preferRelativeResize="0"/>
          <p:nvPr/>
        </p:nvPicPr>
        <p:blipFill rotWithShape="1">
          <a:blip r:embed="rId3">
            <a:alphaModFix/>
          </a:blip>
          <a:srcRect b="0" l="0" r="0" t="0"/>
          <a:stretch/>
        </p:blipFill>
        <p:spPr>
          <a:xfrm>
            <a:off x="0" y="0"/>
            <a:ext cx="14630400" cy="3922514"/>
          </a:xfrm>
          <a:prstGeom prst="rect">
            <a:avLst/>
          </a:prstGeom>
          <a:noFill/>
          <a:ln>
            <a:noFill/>
          </a:ln>
        </p:spPr>
      </p:pic>
      <p:sp>
        <p:nvSpPr>
          <p:cNvPr id="104" name="Google Shape;104;p13"/>
          <p:cNvSpPr/>
          <p:nvPr/>
        </p:nvSpPr>
        <p:spPr>
          <a:xfrm>
            <a:off x="732115" y="4498062"/>
            <a:ext cx="7155537" cy="653772"/>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43728"/>
              </a:buClr>
              <a:buSzPts val="4100"/>
              <a:buFont typeface="Crimson Pro"/>
              <a:buNone/>
            </a:pPr>
            <a:r>
              <a:rPr b="1" i="0" lang="en-US" sz="4100" u="none" cap="none" strike="noStrike">
                <a:solidFill>
                  <a:srgbClr val="443728"/>
                </a:solidFill>
                <a:latin typeface="Crimson Pro"/>
                <a:ea typeface="Crimson Pro"/>
                <a:cs typeface="Crimson Pro"/>
                <a:sym typeface="Crimson Pro"/>
              </a:rPr>
              <a:t>Các công nghệ và thư viện hỗ trợ</a:t>
            </a:r>
            <a:endParaRPr b="0" i="0" sz="4100" u="none" cap="none" strike="noStrike"/>
          </a:p>
        </p:txBody>
      </p:sp>
      <p:pic>
        <p:nvPicPr>
          <p:cNvPr descr="preencoded.png" id="105" name="Google Shape;105;p13"/>
          <p:cNvPicPr preferRelativeResize="0"/>
          <p:nvPr/>
        </p:nvPicPr>
        <p:blipFill rotWithShape="1">
          <a:blip r:embed="rId4">
            <a:alphaModFix/>
          </a:blip>
          <a:srcRect b="0" l="0" r="0" t="0"/>
          <a:stretch/>
        </p:blipFill>
        <p:spPr>
          <a:xfrm>
            <a:off x="732115" y="5465564"/>
            <a:ext cx="522923" cy="522922"/>
          </a:xfrm>
          <a:prstGeom prst="rect">
            <a:avLst/>
          </a:prstGeom>
          <a:noFill/>
          <a:ln>
            <a:noFill/>
          </a:ln>
        </p:spPr>
      </p:pic>
      <p:sp>
        <p:nvSpPr>
          <p:cNvPr id="106" name="Google Shape;106;p13"/>
          <p:cNvSpPr/>
          <p:nvPr/>
        </p:nvSpPr>
        <p:spPr>
          <a:xfrm>
            <a:off x="732115" y="6197679"/>
            <a:ext cx="2614970" cy="3268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43728"/>
              </a:buClr>
              <a:buSzPts val="2050"/>
              <a:buFont typeface="Crimson Pro"/>
              <a:buNone/>
            </a:pPr>
            <a:r>
              <a:rPr b="1" i="0" lang="en-US" sz="2050" u="none" cap="none" strike="noStrike">
                <a:solidFill>
                  <a:srgbClr val="443728"/>
                </a:solidFill>
                <a:latin typeface="Crimson Pro"/>
                <a:ea typeface="Crimson Pro"/>
                <a:cs typeface="Crimson Pro"/>
                <a:sym typeface="Crimson Pro"/>
              </a:rPr>
              <a:t>ASP.NET MVC</a:t>
            </a:r>
            <a:endParaRPr b="0" i="0" sz="2050" u="none" cap="none" strike="noStrike"/>
          </a:p>
        </p:txBody>
      </p:sp>
      <p:sp>
        <p:nvSpPr>
          <p:cNvPr id="107" name="Google Shape;107;p13"/>
          <p:cNvSpPr/>
          <p:nvPr/>
        </p:nvSpPr>
        <p:spPr>
          <a:xfrm>
            <a:off x="732115" y="6649998"/>
            <a:ext cx="3056215" cy="1004054"/>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43728"/>
              </a:buClr>
              <a:buSzPts val="1600"/>
              <a:buFont typeface="Open Sans"/>
              <a:buNone/>
            </a:pPr>
            <a:r>
              <a:rPr b="0" i="0" lang="en-US" sz="1600" u="none" cap="none" strike="noStrike">
                <a:solidFill>
                  <a:srgbClr val="443728"/>
                </a:solidFill>
                <a:latin typeface="Open Sans"/>
                <a:ea typeface="Open Sans"/>
                <a:cs typeface="Open Sans"/>
                <a:sym typeface="Open Sans"/>
              </a:rPr>
              <a:t>Nền tảng phát triển ứng dụng web mạnh mẽ với kiến trúc MVC.</a:t>
            </a:r>
            <a:endParaRPr b="0" i="0" sz="1600" u="none" cap="none" strike="noStrike"/>
          </a:p>
        </p:txBody>
      </p:sp>
      <p:pic>
        <p:nvPicPr>
          <p:cNvPr descr="preencoded.png" id="108" name="Google Shape;108;p13"/>
          <p:cNvPicPr preferRelativeResize="0"/>
          <p:nvPr/>
        </p:nvPicPr>
        <p:blipFill rotWithShape="1">
          <a:blip r:embed="rId5">
            <a:alphaModFix/>
          </a:blip>
          <a:srcRect b="0" l="0" r="0" t="0"/>
          <a:stretch/>
        </p:blipFill>
        <p:spPr>
          <a:xfrm>
            <a:off x="4102060" y="5465564"/>
            <a:ext cx="522923" cy="522922"/>
          </a:xfrm>
          <a:prstGeom prst="rect">
            <a:avLst/>
          </a:prstGeom>
          <a:noFill/>
          <a:ln>
            <a:noFill/>
          </a:ln>
        </p:spPr>
      </p:pic>
      <p:sp>
        <p:nvSpPr>
          <p:cNvPr id="109" name="Google Shape;109;p13"/>
          <p:cNvSpPr/>
          <p:nvPr/>
        </p:nvSpPr>
        <p:spPr>
          <a:xfrm>
            <a:off x="4102060" y="6197679"/>
            <a:ext cx="2614970" cy="3268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43728"/>
              </a:buClr>
              <a:buSzPts val="2050"/>
              <a:buFont typeface="Crimson Pro"/>
              <a:buNone/>
            </a:pPr>
            <a:r>
              <a:rPr b="1" i="0" lang="en-US" sz="2050" u="none" cap="none" strike="noStrike">
                <a:solidFill>
                  <a:srgbClr val="443728"/>
                </a:solidFill>
                <a:latin typeface="Crimson Pro"/>
                <a:ea typeface="Crimson Pro"/>
                <a:cs typeface="Crimson Pro"/>
                <a:sym typeface="Crimson Pro"/>
              </a:rPr>
              <a:t>SQL Server</a:t>
            </a:r>
            <a:endParaRPr b="0" i="0" sz="2050" u="none" cap="none" strike="noStrike"/>
          </a:p>
        </p:txBody>
      </p:sp>
      <p:sp>
        <p:nvSpPr>
          <p:cNvPr id="110" name="Google Shape;110;p13"/>
          <p:cNvSpPr/>
          <p:nvPr/>
        </p:nvSpPr>
        <p:spPr>
          <a:xfrm>
            <a:off x="4102060" y="6649998"/>
            <a:ext cx="3056215" cy="66936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43728"/>
              </a:buClr>
              <a:buSzPts val="1600"/>
              <a:buFont typeface="Open Sans"/>
              <a:buNone/>
            </a:pPr>
            <a:r>
              <a:rPr b="0" i="0" lang="en-US" sz="1600" u="none" cap="none" strike="noStrike">
                <a:solidFill>
                  <a:srgbClr val="443728"/>
                </a:solidFill>
                <a:latin typeface="Open Sans"/>
                <a:ea typeface="Open Sans"/>
                <a:cs typeface="Open Sans"/>
                <a:sym typeface="Open Sans"/>
              </a:rPr>
              <a:t>Hệ quản trị cơ sở dữ liệu quan hệ để lưu trữ dữ liệu.</a:t>
            </a:r>
            <a:endParaRPr b="0" i="0" sz="1600" u="none" cap="none" strike="noStrike"/>
          </a:p>
        </p:txBody>
      </p:sp>
      <p:pic>
        <p:nvPicPr>
          <p:cNvPr descr="preencoded.png" id="111" name="Google Shape;111;p13"/>
          <p:cNvPicPr preferRelativeResize="0"/>
          <p:nvPr/>
        </p:nvPicPr>
        <p:blipFill rotWithShape="1">
          <a:blip r:embed="rId6">
            <a:alphaModFix/>
          </a:blip>
          <a:srcRect b="0" l="0" r="0" t="0"/>
          <a:stretch/>
        </p:blipFill>
        <p:spPr>
          <a:xfrm>
            <a:off x="7472005" y="5465564"/>
            <a:ext cx="522923" cy="522922"/>
          </a:xfrm>
          <a:prstGeom prst="rect">
            <a:avLst/>
          </a:prstGeom>
          <a:noFill/>
          <a:ln>
            <a:noFill/>
          </a:ln>
        </p:spPr>
      </p:pic>
      <p:sp>
        <p:nvSpPr>
          <p:cNvPr id="112" name="Google Shape;112;p13"/>
          <p:cNvSpPr/>
          <p:nvPr/>
        </p:nvSpPr>
        <p:spPr>
          <a:xfrm>
            <a:off x="7472005" y="6197679"/>
            <a:ext cx="2614970" cy="3268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43728"/>
              </a:buClr>
              <a:buSzPts val="2050"/>
              <a:buFont typeface="Crimson Pro"/>
              <a:buNone/>
            </a:pPr>
            <a:r>
              <a:rPr b="1" i="0" lang="en-US" sz="2050" u="none" cap="none" strike="noStrike">
                <a:solidFill>
                  <a:srgbClr val="443728"/>
                </a:solidFill>
                <a:latin typeface="Crimson Pro"/>
                <a:ea typeface="Crimson Pro"/>
                <a:cs typeface="Crimson Pro"/>
                <a:sym typeface="Crimson Pro"/>
              </a:rPr>
              <a:t>Entity Framework Core</a:t>
            </a:r>
            <a:endParaRPr b="0" i="0" sz="2050" u="none" cap="none" strike="noStrike"/>
          </a:p>
        </p:txBody>
      </p:sp>
      <p:sp>
        <p:nvSpPr>
          <p:cNvPr id="113" name="Google Shape;113;p13"/>
          <p:cNvSpPr/>
          <p:nvPr/>
        </p:nvSpPr>
        <p:spPr>
          <a:xfrm>
            <a:off x="7472005" y="6649998"/>
            <a:ext cx="3056215" cy="66936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43728"/>
              </a:buClr>
              <a:buSzPts val="1600"/>
              <a:buFont typeface="Open Sans"/>
              <a:buNone/>
            </a:pPr>
            <a:r>
              <a:rPr b="0" i="0" lang="en-US" sz="1600" u="none" cap="none" strike="noStrike">
                <a:solidFill>
                  <a:srgbClr val="443728"/>
                </a:solidFill>
                <a:latin typeface="Open Sans"/>
                <a:ea typeface="Open Sans"/>
                <a:cs typeface="Open Sans"/>
                <a:sym typeface="Open Sans"/>
              </a:rPr>
              <a:t>Truy vấn và thao tác dữ liệu từ cơ sở dữ liệu.</a:t>
            </a:r>
            <a:endParaRPr b="0" i="0" sz="1600" u="none" cap="none" strike="noStrike"/>
          </a:p>
        </p:txBody>
      </p:sp>
      <p:pic>
        <p:nvPicPr>
          <p:cNvPr descr="preencoded.png" id="114" name="Google Shape;114;p13"/>
          <p:cNvPicPr preferRelativeResize="0"/>
          <p:nvPr/>
        </p:nvPicPr>
        <p:blipFill rotWithShape="1">
          <a:blip r:embed="rId7">
            <a:alphaModFix/>
          </a:blip>
          <a:srcRect b="0" l="0" r="0" t="0"/>
          <a:stretch/>
        </p:blipFill>
        <p:spPr>
          <a:xfrm>
            <a:off x="10841950" y="5465564"/>
            <a:ext cx="522923" cy="522922"/>
          </a:xfrm>
          <a:prstGeom prst="rect">
            <a:avLst/>
          </a:prstGeom>
          <a:noFill/>
          <a:ln>
            <a:noFill/>
          </a:ln>
        </p:spPr>
      </p:pic>
      <p:sp>
        <p:nvSpPr>
          <p:cNvPr id="115" name="Google Shape;115;p13"/>
          <p:cNvSpPr/>
          <p:nvPr/>
        </p:nvSpPr>
        <p:spPr>
          <a:xfrm>
            <a:off x="10841950" y="6197679"/>
            <a:ext cx="2614970" cy="3268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443728"/>
              </a:buClr>
              <a:buSzPts val="2050"/>
              <a:buFont typeface="Crimson Pro"/>
              <a:buNone/>
            </a:pPr>
            <a:r>
              <a:rPr b="1" i="0" lang="en-US" sz="2050" u="none" cap="none" strike="noStrike">
                <a:solidFill>
                  <a:srgbClr val="443728"/>
                </a:solidFill>
                <a:latin typeface="Crimson Pro"/>
                <a:ea typeface="Crimson Pro"/>
                <a:cs typeface="Crimson Pro"/>
                <a:sym typeface="Crimson Pro"/>
              </a:rPr>
              <a:t>Bootstrap</a:t>
            </a:r>
            <a:endParaRPr b="0" i="0" sz="2050" u="none" cap="none" strike="noStrike"/>
          </a:p>
        </p:txBody>
      </p:sp>
      <p:sp>
        <p:nvSpPr>
          <p:cNvPr id="116" name="Google Shape;116;p13"/>
          <p:cNvSpPr/>
          <p:nvPr/>
        </p:nvSpPr>
        <p:spPr>
          <a:xfrm>
            <a:off x="10841950" y="6649998"/>
            <a:ext cx="3056334" cy="669369"/>
          </a:xfrm>
          <a:prstGeom prst="rect">
            <a:avLst/>
          </a:prstGeom>
          <a:noFill/>
          <a:ln>
            <a:noFill/>
          </a:ln>
        </p:spPr>
        <p:txBody>
          <a:bodyPr anchorCtr="0" anchor="t" bIns="0" lIns="0" spcFirstLastPara="1" rIns="0" wrap="square" tIns="0">
            <a:noAutofit/>
          </a:bodyPr>
          <a:lstStyle/>
          <a:p>
            <a:pPr indent="0" lvl="0" marL="0" marR="0" rtl="0" algn="l">
              <a:lnSpc>
                <a:spcPct val="162500"/>
              </a:lnSpc>
              <a:spcBef>
                <a:spcPts val="0"/>
              </a:spcBef>
              <a:spcAft>
                <a:spcPts val="0"/>
              </a:spcAft>
              <a:buClr>
                <a:srgbClr val="443728"/>
              </a:buClr>
              <a:buSzPts val="1600"/>
              <a:buFont typeface="Open Sans"/>
              <a:buNone/>
            </a:pPr>
            <a:r>
              <a:rPr b="0" i="0" lang="en-US" sz="1600" u="none" cap="none" strike="noStrike">
                <a:solidFill>
                  <a:srgbClr val="443728"/>
                </a:solidFill>
                <a:latin typeface="Open Sans"/>
                <a:ea typeface="Open Sans"/>
                <a:cs typeface="Open Sans"/>
                <a:sym typeface="Open Sans"/>
              </a:rPr>
              <a:t>Framework UI để tạo giao diện responsive và thân thiện.</a:t>
            </a:r>
            <a:endParaRPr b="0" i="0" sz="16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pic>
        <p:nvPicPr>
          <p:cNvPr descr="preencoded.png" id="122" name="Google Shape;122;p14"/>
          <p:cNvPicPr preferRelativeResize="0"/>
          <p:nvPr/>
        </p:nvPicPr>
        <p:blipFill rotWithShape="1">
          <a:blip r:embed="rId3">
            <a:alphaModFix/>
          </a:blip>
          <a:srcRect b="0" l="0" r="0" t="0"/>
          <a:stretch/>
        </p:blipFill>
        <p:spPr>
          <a:xfrm>
            <a:off x="0" y="0"/>
            <a:ext cx="7315200" cy="8229600"/>
          </a:xfrm>
          <a:prstGeom prst="rect">
            <a:avLst/>
          </a:prstGeom>
          <a:noFill/>
          <a:ln>
            <a:noFill/>
          </a:ln>
        </p:spPr>
      </p:pic>
      <p:sp>
        <p:nvSpPr>
          <p:cNvPr id="123" name="Google Shape;123;p14"/>
          <p:cNvSpPr/>
          <p:nvPr/>
        </p:nvSpPr>
        <p:spPr>
          <a:xfrm>
            <a:off x="8108990" y="1293852"/>
            <a:ext cx="57276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443728"/>
              </a:buClr>
              <a:buSzPts val="4450"/>
              <a:buFont typeface="Crimson Pro"/>
              <a:buNone/>
            </a:pPr>
            <a:r>
              <a:rPr b="1" i="0" lang="en-US" sz="4450" u="none" cap="none" strike="noStrike">
                <a:solidFill>
                  <a:srgbClr val="443728"/>
                </a:solidFill>
                <a:latin typeface="Crimson Pro"/>
                <a:ea typeface="Crimson Pro"/>
                <a:cs typeface="Crimson Pro"/>
                <a:sym typeface="Crimson Pro"/>
              </a:rPr>
              <a:t>Kết luận và hướng phát triển</a:t>
            </a:r>
            <a:endParaRPr b="0" i="0" sz="4450" u="none" cap="none" strike="noStrike"/>
          </a:p>
        </p:txBody>
      </p:sp>
      <p:sp>
        <p:nvSpPr>
          <p:cNvPr id="124" name="Google Shape;124;p14"/>
          <p:cNvSpPr/>
          <p:nvPr/>
        </p:nvSpPr>
        <p:spPr>
          <a:xfrm>
            <a:off x="8108990" y="3051572"/>
            <a:ext cx="5727621"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Trong bài thuyết trình này, chúng ta đã khám phá quy trình xây dựng một trang web bán hàng Apple sử dụng ASP.NET. Mặc dù dự án này có nhiều thách thức, nhưng với các công nghệ và thư viện hỗ trợ, chúng ta có thể tạo ra một trang web thương mại điện tử hiệu quả và hấp dẫn.</a:t>
            </a:r>
            <a:endParaRPr b="0" i="0" sz="1750" u="none" cap="none" strike="noStrike"/>
          </a:p>
        </p:txBody>
      </p:sp>
      <p:sp>
        <p:nvSpPr>
          <p:cNvPr id="125" name="Google Shape;125;p14"/>
          <p:cNvSpPr/>
          <p:nvPr/>
        </p:nvSpPr>
        <p:spPr>
          <a:xfrm>
            <a:off x="8109000" y="5689153"/>
            <a:ext cx="5727600" cy="18183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443728"/>
              </a:buClr>
              <a:buSzPts val="1750"/>
              <a:buFont typeface="Open Sans"/>
              <a:buNone/>
            </a:pPr>
            <a:r>
              <a:rPr b="0" i="0" lang="en-US" sz="1750" u="none" cap="none" strike="noStrike">
                <a:solidFill>
                  <a:srgbClr val="443728"/>
                </a:solidFill>
                <a:latin typeface="Open Sans"/>
                <a:ea typeface="Open Sans"/>
                <a:cs typeface="Open Sans"/>
                <a:sym typeface="Open Sans"/>
              </a:rPr>
              <a:t>Trong tương lai, chúng ta có thể tích hợp các phương thức thanh toán mới, các công cụ marketing, phát triển ứng dụng di động và áp dụng các công nghệ mới như AI để cá nhân hóa trải nghiệm người dùng.</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